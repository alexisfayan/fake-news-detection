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🔍 DÉTECTION DE FAKE NEWS POLITIQUES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0A5FA"/>
                </a:solidFill>
              </a:defRPr>
            </a:pPr>
            <a:r>
              <a:t>Follow-Up — Projet Data Science &amp; Business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Master 2 Epitech — Avril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3840480"/>
            <a:ext cx="5760720" cy="20116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3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3977639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0A5FA"/>
                </a:solidFill>
              </a:defRPr>
            </a:pPr>
            <a:r>
              <a:t>GROUPE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443484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</a:defRPr>
            </a:pPr>
            <a:r>
              <a:t>Alexis FAYAN  •  Yassin CHAAIRATE  •  Jacqueline MARIANADIN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</a:defRPr>
            </a:pPr>
            <a:r>
              <a:t>Ethan HARY  •  Aissatou-Blondin DIOP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01  PROBLÉMATIQUE &amp; CONTEXTE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960120"/>
            <a:ext cx="1828800" cy="3657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128016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3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</a:defRPr>
            </a:pPr>
            <a:r>
              <a:t>💡 PROBLÉMATIQUE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Peut-on détecter automatiquement les fake news politiques à partir du texte et des métadonnées du locuteur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5120640" cy="320040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3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</a:defRPr>
            </a:pPr>
            <a:r>
              <a:t>📊 DATASETS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2044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</a:defRPr>
            </a:pPr>
            <a:r>
              <a:t>LIAR Dataset — 12 800 déclarations politiques US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</a:defRPr>
            </a:pPr>
            <a:r>
              <a:t>Annotées par PolitiFact (fact-checkers pros)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</a:defRPr>
            </a:pPr>
            <a:r>
              <a:t>6 niveaux de véracité → simplifié en fake / real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</a:defRPr>
            </a:pPr>
            <a:r>
              <a:t>FakeNewsNet — ~1 000 articles (test généralisation)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017520"/>
            <a:ext cx="5120640" cy="320040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3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31089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</a:defRPr>
            </a:pPr>
            <a:r>
              <a:t>🎯 APPROCHE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52044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</a:defRPr>
            </a:pPr>
            <a:r>
              <a:t>Classification binaire : fake vs real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</a:defRPr>
            </a:pPr>
            <a:r>
              <a:t>TF-IDF + Word2Vec + métadonnées speaker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</a:defRPr>
            </a:pPr>
            <a:r>
              <a:t>3 modèles classiques : LogReg, RF, XGBoost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</a:defRPr>
            </a:pPr>
            <a:r>
              <a:t>1 modèle deep learning : BERT fine-tuné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</a:defRPr>
            </a:pPr>
            <a:r>
              <a:t>Évaluation : accuracy, F1, SHAP, biais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02  MÉTHODOLOGIE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960120"/>
            <a:ext cx="1828800" cy="3657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011680" cy="25603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3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63040" y="164592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Exploration des</a:t>
            </a:r>
            <a:br/>
            <a:r>
              <a:t>données, stats,</a:t>
            </a:r>
            <a:br/>
            <a:r>
              <a:t>wordclouds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463040"/>
            <a:ext cx="2011680" cy="25603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3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703320" y="1645920"/>
            <a:ext cx="548640" cy="5486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331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Prétraitement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74320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Nettoyage texte,</a:t>
            </a:r>
            <a:br/>
            <a:r>
              <a:t>mapping binaire</a:t>
            </a:r>
            <a:br/>
            <a:r>
              <a:t>fake/real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1463040"/>
            <a:ext cx="2011680" cy="25603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3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0" y="164592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331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74320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TF-IDF (10K),</a:t>
            </a:r>
            <a:br/>
            <a:r>
              <a:t>Word2Vec,</a:t>
            </a:r>
            <a:br/>
            <a:r>
              <a:t>métadonnées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1463040"/>
            <a:ext cx="2011680" cy="25603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3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183880" y="1645920"/>
            <a:ext cx="548640" cy="5486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331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Modèles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274320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LogReg, RF,</a:t>
            </a:r>
            <a:br/>
            <a:r>
              <a:t>XGBoost +</a:t>
            </a:r>
            <a:br/>
            <a:r>
              <a:t>BERT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1463040"/>
            <a:ext cx="2011680" cy="25603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3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424160" y="164592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2331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Évaluation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274320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Cross-val 5-fold,</a:t>
            </a:r>
            <a:br/>
            <a:r>
              <a:t>GridSearch,</a:t>
            </a:r>
            <a:br/>
            <a:r>
              <a:t>confusion matrix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034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0A5FA"/>
                </a:solidFill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6062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0A5FA"/>
                </a:solidFill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090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0A5FA"/>
                </a:solidFill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4118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0A5FA"/>
                </a:solidFill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389120"/>
            <a:ext cx="10698480" cy="20116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3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480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</a:defRPr>
            </a:pPr>
            <a:r>
              <a:t>🔧 TECHNIQUES CLÉS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8920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TF-IDF : transforme le texte en vecteur de fréquences (10 000 features, unigrams + bigrams)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Word2Vec : représentation dense du texte (300 dimensions) — comparé à TF-IDF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Cross-validation 5-fold : on divise le train en 5 parties pour valider la stabilité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SHAP values : on explique POURQUOI le modèle prédit fake ou real (interprétabilité)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BERT : modèle deep learning pré-entraîné, fine-tuné avec early stopping + warmup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03  RÉSULTATS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960120"/>
            <a:ext cx="1828800" cy="3657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105156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3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73152" cy="10515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Logistic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417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B82F6"/>
                </a:solidFill>
              </a:defRPr>
            </a:pPr>
            <a:r>
              <a:t>~64%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F1 macro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91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B82F6"/>
                </a:solidFill>
              </a:defRPr>
            </a:pPr>
            <a:r>
              <a:t>~64%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6002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Baseline solide, interprétable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06040"/>
            <a:ext cx="10698480" cy="105156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3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2606040"/>
            <a:ext cx="73152" cy="10515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697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Random Forest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926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2C55E"/>
                </a:solidFill>
              </a:defRPr>
            </a:pPr>
            <a:r>
              <a:t>~62%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F1 macro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926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2C55E"/>
                </a:solidFill>
              </a:defRPr>
            </a:pPr>
            <a:r>
              <a:t>~61%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834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Bon en ensembles, léger underfitting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840480"/>
            <a:ext cx="10698480" cy="105156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3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3840480"/>
            <a:ext cx="73152" cy="105156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XGBoost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886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Accuracy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1605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97316"/>
                </a:solidFill>
              </a:defRPr>
            </a:pPr>
            <a:r>
              <a:t>~73%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886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F1 macro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1605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97316"/>
                </a:solidFill>
              </a:defRPr>
            </a:pPr>
            <a:r>
              <a:t>~72%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0690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🏆 MEILLEUR — exploite les métadonnées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074920"/>
            <a:ext cx="10698480" cy="105156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3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5074920"/>
            <a:ext cx="73152" cy="105156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5166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BERT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5120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Accuracy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5394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A78BFA"/>
                </a:solidFill>
              </a:defRPr>
            </a:pPr>
            <a:r>
              <a:t>~64%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120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F1 macro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394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A78BFA"/>
                </a:solidFill>
              </a:defRPr>
            </a:pPr>
            <a:r>
              <a:t>~61%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5303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Text-only, pas de métadonnées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669280"/>
            <a:ext cx="10698480" cy="82296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7280" y="5760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C55E"/>
                </a:solidFill>
              </a:defRPr>
            </a:pPr>
            <a:r>
              <a:t>💡 Insight clé : les métadonnées (credit history) apportent +10 pts d'accuracy. Le texte seul ne suffit pas.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04  GÉNÉRALISATION &amp; BIAIS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960120"/>
            <a:ext cx="1828800" cy="3657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3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</a:defRPr>
            </a:pPr>
            <a:r>
              <a:t>🌍 OUT-OF-DOMAIN (GÉNÉRALISATION)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389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</a:defRPr>
            </a:pPr>
            <a:r>
              <a:t>Test sur FakeNewsNet PolitiFact (~1000 articles)</a:t>
            </a:r>
          </a:p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</a:defRPr>
            </a:pPr>
            <a:r>
              <a:t>Dataset JAMAIS vu pendant l'entraînement</a:t>
            </a:r>
          </a:p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</a:defRPr>
            </a:pPr>
            <a:r>
              <a:t>⚠️ Performance en baisse sur données externes</a:t>
            </a:r>
          </a:p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</a:defRPr>
            </a:pPr>
            <a:r>
              <a:t>→ Les patterns LIAR ne se transfèrent pas bien</a:t>
            </a:r>
          </a:p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</a:defRPr>
            </a:pPr>
            <a:r>
              <a:t>→ Vocabulaire et style différents entre datasets</a:t>
            </a:r>
          </a:p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</a:defRPr>
            </a:pPr>
            <a:r>
              <a:t>C'est le "domain shift" : le modèle a appris</a:t>
            </a:r>
          </a:p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</a:defRPr>
            </a:pPr>
            <a:r>
              <a:t>des patterns spécifiques à LIAR, pas universels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3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4630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</a:defRPr>
            </a:pPr>
            <a:r>
              <a:t>⚖️ BIAIS &amp; FAIRNESS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389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</a:defRPr>
            </a:pPr>
            <a:r>
              <a:t>Analyse par affiliation politique du speaker</a:t>
            </a:r>
          </a:p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</a:defRPr>
            </a:pPr>
            <a:r>
              <a:t>🔴 Problèmes identifiés :</a:t>
            </a:r>
          </a:p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</a:defRPr>
            </a:pPr>
            <a:r>
              <a:t>→ Performances VARIENT selon le parti politique</a:t>
            </a:r>
          </a:p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</a:defRPr>
            </a:pPr>
            <a:r>
              <a:t>→ Surreprésentation de certains speakers</a:t>
            </a:r>
          </a:p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</a:defRPr>
            </a:pPr>
            <a:r>
              <a:t>→ Le credit history encode l'historique du speaker</a:t>
            </a:r>
          </a:p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</a:defRPr>
            </a:pPr>
            <a:r>
              <a:t>✅ Solutions proposées :</a:t>
            </a:r>
          </a:p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</a:defRPr>
            </a:pPr>
            <a:r>
              <a:t>→ Audit régulier par sous-groupe</a:t>
            </a:r>
          </a:p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</a:defRPr>
            </a:pPr>
            <a:r>
              <a:t>→ Humain dans la boucle (pas d'automatisation totale)</a:t>
            </a:r>
          </a:p>
          <a:p>
            <a:pPr>
              <a:spcAft>
                <a:spcPts val="600"/>
              </a:spcAft>
              <a:defRPr sz="1500">
                <a:solidFill>
                  <a:srgbClr val="CBD5E1"/>
                </a:solidFill>
              </a:defRPr>
            </a:pPr>
            <a:r>
              <a:t>→ Transparence des critères de classification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05  CONCLUSION &amp; PROCHAINES ÉTAPES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960120"/>
            <a:ext cx="1828800" cy="3657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274320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3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508760"/>
            <a:ext cx="548640" cy="3657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Le modèle peut-il favoriser</a:t>
            </a:r>
            <a:br/>
            <a:r>
              <a:t>certains groupes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OUI — performances varient par parti.</a:t>
            </a:r>
            <a:br/>
            <a:r>
              <a:t>Il faut un humain dans la boucle.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371600"/>
            <a:ext cx="3474720" cy="274320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3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17719" y="1508760"/>
            <a:ext cx="548640" cy="36576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19" y="20116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Les erreurs ont-elles des</a:t>
            </a:r>
            <a:br/>
            <a:r>
              <a:t>conséquences graves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19" y="29260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OUI — faux positifs = censure,</a:t>
            </a:r>
            <a:br/>
            <a:r>
              <a:t>faux négatifs = désinformation.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371600"/>
            <a:ext cx="3474720" cy="274320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33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66760" y="1508760"/>
            <a:ext cx="54864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0116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Peut-on détecter les fake news</a:t>
            </a:r>
            <a:br/>
            <a:r>
              <a:t>uniquement avec le texte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9260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</a:defRPr>
            </a:pPr>
            <a:r>
              <a:t>PARTIELLEMENT — le texte aide mais</a:t>
            </a:r>
            <a:br/>
            <a:r>
              <a:t>les métadonnées sont cruciales (+10 pts).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80560"/>
            <a:ext cx="10698480" cy="20116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1A2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</a:defRPr>
            </a:pPr>
            <a:r>
              <a:t>🚀 PROCHAINES ÉTAPES POUR LA SOUTENANCE (17 avril)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Ré-entraîner BERT avec les améliorations (early stopping, warmup, weight decay) et comparer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Approfondir l'analyse SHAP et l'explicabilité des prédictions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Préparer les réponses aux questions du jury sur les limites et les biais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Finaliser les visualisations et la présentation orale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