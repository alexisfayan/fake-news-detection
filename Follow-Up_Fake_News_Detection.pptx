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DETECTION DE FAKE NEWS POLITIQUES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38BDF8"/>
                </a:solidFill>
              </a:defRPr>
            </a:pPr>
            <a:r>
              <a:t>Follow-Up  |  Projet Data Science &amp; Business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Master 2 Epitech  |  Avril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4206240"/>
            <a:ext cx="5760720" cy="1645920"/>
          </a:xfrm>
          <a:prstGeom prst="roundRect">
            <a:avLst/>
          </a:prstGeom>
          <a:solidFill>
            <a:srgbClr val="1A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42976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GROUPE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47548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Alexis FAYAN  |  Yassin CHAAIRATE  |  Jacqueline MARIANADIN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51206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Ethan HARY  |  Aissatou-Blondin DIOP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01  PROBLEMATIQUE &amp; CONTEXTE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698480" cy="1097280"/>
          </a:xfrm>
          <a:prstGeom prst="roundRect">
            <a:avLst/>
          </a:prstGeom>
          <a:solidFill>
            <a:srgbClr val="1A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</a:defRPr>
            </a:pPr>
            <a:r>
              <a:t>PROBLEMATIQUE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</a:defRPr>
            </a:pPr>
            <a:r>
              <a:t>Peut-on detecter automatiquement les fake news politiques a partir du texte et des metadonnees du speaker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5120640" cy="2560320"/>
          </a:xfrm>
          <a:prstGeom prst="roundRect">
            <a:avLst/>
          </a:prstGeom>
          <a:solidFill>
            <a:srgbClr val="1A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</a:defRPr>
            </a:pPr>
            <a:r>
              <a:t>DATASETS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LIAR Dataset : 12 800 declarations politiques US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   Annotees par PolitiFact (fact-checkers pros)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FakeNewsNet PolitiFact : ~1 000 articles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   Dataset externe pour tester la generalisation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560320"/>
            <a:ext cx="5212080" cy="2560320"/>
          </a:xfrm>
          <a:prstGeom prst="roundRect">
            <a:avLst/>
          </a:prstGeom>
          <a:solidFill>
            <a:srgbClr val="1A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606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</a:defRPr>
            </a:pPr>
            <a:r>
              <a:t>APPROCHE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01752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Classification binaire : fake vs real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TF-IDF + Word2Vec + metadonnees speaker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Modeles : LogReg, RF, XGBoost + BERT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Evaluation : cross-val 5-fold, accuracy, F1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Explicabilite : SHAP values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02  METHODOLOGIE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011680" cy="2286000"/>
          </a:xfrm>
          <a:prstGeom prst="roundRect">
            <a:avLst/>
          </a:prstGeom>
          <a:solidFill>
            <a:srgbClr val="1A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80160" y="1325880"/>
            <a:ext cx="457200" cy="45720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1729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EDA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Exploration 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donnees, stats,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wordclouds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0116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8BDF8"/>
                </a:solidFill>
              </a:defRPr>
            </a:pPr>
            <a: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188720"/>
            <a:ext cx="2011680" cy="2286000"/>
          </a:xfrm>
          <a:prstGeom prst="roundRect">
            <a:avLst/>
          </a:prstGeom>
          <a:solidFill>
            <a:srgbClr val="1A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66160" y="1325880"/>
            <a:ext cx="457200" cy="45720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1729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1920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Pretraitement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286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Nettoyage texte,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560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mapping binaire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2834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fake/real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20116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8BDF8"/>
                </a:solidFill>
              </a:defRPr>
            </a:pPr>
            <a: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20640" y="1188720"/>
            <a:ext cx="2011680" cy="2286000"/>
          </a:xfrm>
          <a:prstGeom prst="roundRect">
            <a:avLst/>
          </a:prstGeom>
          <a:solidFill>
            <a:srgbClr val="1A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52160" y="1325880"/>
            <a:ext cx="457200" cy="45720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1729"/>
                </a:solidFill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1920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Features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2286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TF-IDF (10K),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560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Word2Vec,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834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metadonnees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20116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8BDF8"/>
                </a:solidFill>
              </a:defRPr>
            </a:pPr>
            <a:r>
              <a:t>&gt;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06640" y="1188720"/>
            <a:ext cx="2011680" cy="2286000"/>
          </a:xfrm>
          <a:prstGeom prst="roundRect">
            <a:avLst/>
          </a:prstGeom>
          <a:solidFill>
            <a:srgbClr val="1A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38160" y="1325880"/>
            <a:ext cx="457200" cy="45720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1729"/>
                </a:solidFill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1920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Modeles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0" y="2286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LogReg, RF,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0" y="2560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XGBoost 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0" y="2834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BERT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20116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8BDF8"/>
                </a:solidFill>
              </a:defRPr>
            </a:pPr>
            <a:r>
              <a:t>&gt;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92640" y="1188720"/>
            <a:ext cx="2011680" cy="2286000"/>
          </a:xfrm>
          <a:prstGeom prst="roundRect">
            <a:avLst/>
          </a:prstGeom>
          <a:solidFill>
            <a:srgbClr val="1A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424160" y="1325880"/>
            <a:ext cx="457200" cy="45720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1729"/>
                </a:solidFill>
              </a:defRPr>
            </a:pPr>
            <a: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0" y="1920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Evaluation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2286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Cross-val 5-fold,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0" y="2560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GridSearch,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2834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confusion matrix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3840480"/>
            <a:ext cx="11064240" cy="2560320"/>
          </a:xfrm>
          <a:prstGeom prst="roundRect">
            <a:avLst/>
          </a:prstGeom>
          <a:solidFill>
            <a:srgbClr val="1A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3931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</a:defRPr>
            </a:pPr>
            <a:r>
              <a:t>TECHNIQUES CLES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343400"/>
            <a:ext cx="10698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TF-IDF : transforme le texte en vecteur de frequences (10 000 features, unigrammes + bigrammes)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Word2Vec : representation dense du texte (300 dimensions) - compare a TF-IDF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Cross-validation 5-fold : 5 entrainements differents, moyenne des scores = evaluation robuste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SHAP : explique quels mots/features influencent chaque prediction (interpretabilite)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BERT fine-tuning : modele pre-entraine adapte a notre tache (early stopping, warmup, weight decay)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03  RESULTATS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2651760" cy="3200400"/>
          </a:xfrm>
          <a:prstGeom prst="roundRect">
            <a:avLst/>
          </a:prstGeom>
          <a:solidFill>
            <a:srgbClr val="1A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Logistic Regression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288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Accuracy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~64%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517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F1 macro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~64%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5661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</a:defRPr>
            </a:pPr>
            <a:r>
              <a:t>Baseline solide, interpretable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188720"/>
            <a:ext cx="2651760" cy="3200400"/>
          </a:xfrm>
          <a:prstGeom prst="roundRect">
            <a:avLst/>
          </a:prstGeom>
          <a:solidFill>
            <a:srgbClr val="1A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2801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Random Forest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8288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Accuracy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~62%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6517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F1 macro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9260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~61%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5661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</a:defRPr>
            </a:pPr>
            <a:r>
              <a:t>Ensemble d'arbres, leger underfitting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188720"/>
            <a:ext cx="2651760" cy="3200400"/>
          </a:xfrm>
          <a:prstGeom prst="roundRect">
            <a:avLst/>
          </a:prstGeom>
          <a:solidFill>
            <a:srgbClr val="153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2801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XGBoost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8288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Accuracy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</a:defRPr>
            </a:pPr>
            <a:r>
              <a:t>~73%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6517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F1 macro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9260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</a:defRPr>
            </a:pPr>
            <a:r>
              <a:t>~72%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35661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2C55E"/>
                </a:solidFill>
              </a:defRPr>
            </a:pPr>
            <a:r>
              <a:t>MEILLEUR - exploite les metadonnees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1188720"/>
            <a:ext cx="2651760" cy="3200400"/>
          </a:xfrm>
          <a:prstGeom prst="roundRect">
            <a:avLst/>
          </a:prstGeom>
          <a:solidFill>
            <a:srgbClr val="1A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0" y="12801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BERT (text only)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18288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Accuracy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~64%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6517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</a:defRPr>
            </a:pPr>
            <a:r>
              <a:t>F1 macro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9260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~61%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5661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</a:defRPr>
            </a:pPr>
            <a:r>
              <a:t>Deep learning, pas de metadonnees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754880"/>
            <a:ext cx="11247120" cy="914400"/>
          </a:xfrm>
          <a:prstGeom prst="roundRect">
            <a:avLst/>
          </a:prstGeom>
          <a:solidFill>
            <a:srgbClr val="1A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8463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ACC15"/>
                </a:solidFill>
              </a:defRPr>
            </a:pPr>
            <a:r>
              <a:t>Insight cle : les metadonnees (credit history) apportent +10 pts d'accuracy.</a:t>
            </a:r>
          </a:p>
          <a:p>
            <a:pPr>
              <a:spcAft>
                <a:spcPts val="400"/>
              </a:spcAft>
              <a:defRPr sz="1400">
                <a:solidFill>
                  <a:srgbClr val="FACC15"/>
                </a:solidFill>
              </a:defRPr>
            </a:pPr>
            <a:r>
              <a:t>Le texte seul ne suffit pas a distinguer fake/real de maniere fiable.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04  GENERALISATION &amp; BIAIS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5120640" cy="4389120"/>
          </a:xfrm>
          <a:prstGeom prst="roundRect">
            <a:avLst/>
          </a:prstGeom>
          <a:solidFill>
            <a:srgbClr val="1A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</a:defRPr>
            </a:pPr>
            <a:r>
              <a:t>OUT-OF-DOMAIN (GENERALISATION)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Test sur FakeNewsNet PolitiFact (~1000 articles)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Dataset jamais vu pendant l'entrainement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Resultats 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  - Performance en baisse significative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  - Les patterns appris sur LIAR sont specifiques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  - Le domain shift reduit la fiabilite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Conclusion : un modele entraine sur un dataset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ne generalise pas bien a d'autres sources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12080" cy="4389120"/>
          </a:xfrm>
          <a:prstGeom prst="roundRect">
            <a:avLst/>
          </a:prstGeom>
          <a:solidFill>
            <a:srgbClr val="1A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</a:defRPr>
            </a:pPr>
            <a:r>
              <a:t>BIAIS &amp; FAIRNESS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8463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Analyse par affiliation politique du speaker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Constats 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  - Performances varient selon le parti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  - Surrepresentation de certains speakers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  - Le credit history encode l'historique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    du speaker (pas juste le texte)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Solutions proposees 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  - Audits par sous-groupes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  - Humain dans la boucle de decision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  - Transparence sur les criteres de classif.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05  CONCLUSION &amp; PROCHAINES ETAPES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566160" cy="2286000"/>
          </a:xfrm>
          <a:prstGeom prst="roundRect">
            <a:avLst/>
          </a:prstGeom>
          <a:solidFill>
            <a:srgbClr val="1A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1325880"/>
            <a:ext cx="548640" cy="36576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F1729"/>
                </a:solidFill>
              </a:defRPr>
            </a:pPr>
            <a: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325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Favorise certains groupes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CCCCCC"/>
                </a:solidFill>
              </a:defRPr>
            </a:pPr>
            <a:r>
              <a:t>OUI - performances varient par parti</a:t>
            </a:r>
          </a:p>
          <a:p>
            <a:pPr>
              <a:spcAft>
                <a:spcPts val="400"/>
              </a:spcAft>
              <a:defRPr sz="1200">
                <a:solidFill>
                  <a:srgbClr val="CCCCCC"/>
                </a:solidFill>
              </a:defRPr>
            </a:pPr>
            <a:r>
              <a:t>Il faut un humain dans la boucle de decision.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88720"/>
            <a:ext cx="3566160" cy="2286000"/>
          </a:xfrm>
          <a:prstGeom prst="roundRect">
            <a:avLst/>
          </a:prstGeom>
          <a:solidFill>
            <a:srgbClr val="1A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34840" y="1325880"/>
            <a:ext cx="548640" cy="36576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F1729"/>
                </a:solidFill>
              </a:defRPr>
            </a:pPr>
            <a:r>
              <a:t>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1325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Erreurs consequentes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92024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CCCCCC"/>
                </a:solidFill>
              </a:defRPr>
            </a:pPr>
            <a:r>
              <a:t>OUI - faux positifs = censure, faux negatifs = desinformation</a:t>
            </a:r>
          </a:p>
          <a:p>
            <a:pPr>
              <a:spcAft>
                <a:spcPts val="400"/>
              </a:spcAft>
              <a:defRPr sz="1200">
                <a:solidFill>
                  <a:srgbClr val="CCCCCC"/>
                </a:solidFill>
              </a:defRPr>
            </a:pPr>
            <a:r>
              <a:t>Trop d'erreurs pour l'automatisation.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188720"/>
            <a:ext cx="3566160" cy="2286000"/>
          </a:xfrm>
          <a:prstGeom prst="roundRect">
            <a:avLst/>
          </a:prstGeom>
          <a:solidFill>
            <a:srgbClr val="1A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75320" y="1325880"/>
            <a:ext cx="548640" cy="36576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F1729"/>
                </a:solidFill>
              </a:defRPr>
            </a:pPr>
            <a: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325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Texte seul suffisant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192024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CCCCCC"/>
                </a:solidFill>
              </a:defRPr>
            </a:pPr>
            <a:r>
              <a:t>PARTIELLEMENT - le texte aide mais les metadonnees sont cruciales (+10 pts accuracy).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840480"/>
            <a:ext cx="11247120" cy="2560320"/>
          </a:xfrm>
          <a:prstGeom prst="roundRect">
            <a:avLst/>
          </a:prstGeom>
          <a:solidFill>
            <a:srgbClr val="1A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</a:defRPr>
            </a:pPr>
            <a:r>
              <a:t>PROCHAINES ETAPES POUR LA SOUTENANCE (17 AVRIL)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8912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Re-entrainer BERT avec les ameliorations (early stopping, warmup, weight decay)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Approfondir l'analyse SHAP et l'explicabilite des predictions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Preparer les reponses aux questions du jury sur les limites et biais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Finaliser les visualisations (confusion matrices, SHAP plots, bias charts)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S'assurer que chaque membre du groupe maitrise le notebook et peut l'expliquer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